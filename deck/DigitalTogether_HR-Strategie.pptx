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6AB2E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42C5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AB2E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6A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42C5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Vorher</c:v>
                  </c:pt>
                  <c:pt idx="1">
                    <c:v>nach Pilot</c:v>
                  </c:pt>
                  <c:pt idx="2">
                    <c:v>Ziel 12 Mon.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63</c:v>
                </c:pt>
                <c:pt idx="2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42C5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C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063E78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291840"/>
            <a:ext cx="4206240" cy="4206240"/>
          </a:xfrm>
          <a:prstGeom prst="ellipse">
            <a:avLst/>
          </a:prstGeom>
          <a:solidFill>
            <a:srgbClr val="1C6AA8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B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DigitalTogether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 verbindet.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Relational Mentoring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AB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als Baustein der HR-Strategie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40690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Generationen verbinden, digitale Kompetenz aufbauen und Mitarbeitende langfristig binden – über eine strukturierte Matching- und Lernplattform.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5715000"/>
            <a:ext cx="64008" cy="502920"/>
          </a:xfrm>
          <a:prstGeom prst="rect">
            <a:avLst/>
          </a:prstGeom>
          <a:solidFill>
            <a:srgbClr val="6AB2E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5669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Strategie-Vorlage People &amp; Culture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7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Vorbereitet für die Geschäftsleitung · Vertraulich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6AB2E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Warum jetzt handeln?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004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2670048" cy="109728"/>
          </a:xfrm>
          <a:prstGeom prst="rect">
            <a:avLst/>
          </a:prstGeom>
          <a:solidFill>
            <a:srgbClr val="042C5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30%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Belegschaft geht in vielen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Unternehmen bis 2035 in Rente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920240"/>
            <a:ext cx="267004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920240"/>
            <a:ext cx="2670048" cy="109728"/>
          </a:xfrm>
          <a:prstGeom prst="rect">
            <a:avLst/>
          </a:prstGeom>
          <a:solidFill>
            <a:srgbClr val="1C6AA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24028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6A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57600" y="306324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Prozesse verändern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 schneller als die Weiterbildung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920240"/>
            <a:ext cx="267004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920240"/>
            <a:ext cx="2670048" cy="109728"/>
          </a:xfrm>
          <a:prstGeom prst="rect">
            <a:avLst/>
          </a:prstGeom>
          <a:solidFill>
            <a:srgbClr val="042C58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24028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Wissen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92240" y="306324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wertvolles Erfahrungswissen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droht ungenutzt verloren zu gehen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0" y="1920240"/>
            <a:ext cx="267004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0" y="1920240"/>
            <a:ext cx="2670048" cy="109728"/>
          </a:xfrm>
          <a:prstGeom prst="rect">
            <a:avLst/>
          </a:prstGeom>
          <a:solidFill>
            <a:srgbClr val="1C6AA8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0" y="224028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6A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Bindung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326880" y="306324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Wertschätzung &amp; Lernen sind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zentrale Faktoren der Mitarbeiterbindung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10908792" cy="1417320"/>
          </a:xfrm>
          <a:prstGeom prst="roundRect">
            <a:avLst>
              <a:gd name="adj" fmla="val 6452"/>
            </a:avLst>
          </a:prstGeom>
          <a:solidFill>
            <a:srgbClr val="E7F2FB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4736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A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Kernfrage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5074920"/>
            <a:ext cx="10268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04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verbinden wir die digitale Affinität digital affiner Mitarbeitender mit dem Erfahrungswissen arbeitserfahrener Kolleg:innen – strukturiert, freiwillig und messbar?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6AB2E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STRATEGISCHE EINORDNUNG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Einzahlung auf fünf HR-Handlungsfelder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7665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956816"/>
            <a:ext cx="566928" cy="566928"/>
          </a:xfrm>
          <a:prstGeom prst="ellipse">
            <a:avLst/>
          </a:prstGeom>
          <a:solidFill>
            <a:srgbClr val="042C58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956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947672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Wissensmanagement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69080" y="1947672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Erfahrungswissen sichern und systematisch weitergeben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715768"/>
            <a:ext cx="67665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2798064"/>
            <a:ext cx="566928" cy="566928"/>
          </a:xfrm>
          <a:prstGeom prst="ellipse">
            <a:avLst/>
          </a:prstGeom>
          <a:solidFill>
            <a:srgbClr val="1C6AA8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798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278892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Digitale Transformation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69080" y="2788920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Selbstwirksamkeit über alle Altersgruppen stärken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557016"/>
            <a:ext cx="67665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" y="3639312"/>
            <a:ext cx="566928" cy="566928"/>
          </a:xfrm>
          <a:prstGeom prst="ellipse">
            <a:avLst/>
          </a:prstGeom>
          <a:solidFill>
            <a:srgbClr val="042C58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3639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363016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Mitarbeiterbindung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69080" y="3630168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Wertschätzung &amp; Entwicklung erhöhen die Retention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398264"/>
            <a:ext cx="67665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6384" y="4480560"/>
            <a:ext cx="566928" cy="566928"/>
          </a:xfrm>
          <a:prstGeom prst="ellipse">
            <a:avLst/>
          </a:prstGeom>
          <a:solidFill>
            <a:srgbClr val="1C6AA8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480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08760" y="447141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Diversity &amp; Inklusion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069080" y="4471416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Generationenübergreifende Zusammenarbeit auf Augenhöhe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239512"/>
            <a:ext cx="67665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6384" y="5321808"/>
            <a:ext cx="566928" cy="566928"/>
          </a:xfrm>
          <a:prstGeom prst="ellipse">
            <a:avLst/>
          </a:prstGeom>
          <a:solidFill>
            <a:srgbClr val="042C58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5321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508760" y="5312664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Employer Branding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069080" y="5312664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Moderne Lernkultur als Argument im Recruiting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818120" y="1874520"/>
            <a:ext cx="3730752" cy="4114800"/>
          </a:xfrm>
          <a:prstGeom prst="roundRect">
            <a:avLst>
              <a:gd name="adj" fmla="val 2451"/>
            </a:avLst>
          </a:prstGeom>
          <a:solidFill>
            <a:srgbClr val="042C58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09244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Strategischer Kern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92440" y="25603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Mentoring ist kein Einzelprojekt, sondern ein Hebel, der gleichzeitig auf mehrere strategische People-Ziele einzahlt.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092440" y="3977640"/>
            <a:ext cx="3154680" cy="0"/>
          </a:xfrm>
          <a:prstGeom prst="line">
            <a:avLst/>
          </a:prstGeom>
          <a:noFill/>
          <a:ln w="12700">
            <a:solidFill>
              <a:srgbClr val="1C6A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92440" y="4206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Ein Programm.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6AB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Fünf Wirkungsfelder.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092440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Miteinander. Füreinander.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6AB2E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LÖSUNGSANSATZ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Zwei Perspektiven, ein gemeinsames Ziel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5349240" cy="128016"/>
          </a:xfrm>
          <a:prstGeom prst="rect">
            <a:avLst/>
          </a:prstGeom>
          <a:solidFill>
            <a:srgbClr val="042C5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Erfahrene Mitarbeitende  ·  „Mentees“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Bringen ein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Erfahrung &amp; Branchenwissen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Strukturierte, verlässliche Arbeitsweise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Weitblick &amp; Problemlösungskompetenz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Tools souverän einsetzen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 im digitalen Arbeitsalltag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193792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874520"/>
            <a:ext cx="5193792" cy="128016"/>
          </a:xfrm>
          <a:prstGeom prst="rect">
            <a:avLst/>
          </a:prstGeom>
          <a:solidFill>
            <a:srgbClr val="6AB2E7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148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Digital-affine Mitarbeitende  ·  Mentor:innen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75120" y="269748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Bringen ein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Affinität &amp; Lernfreude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Neugier für neue Tools &amp; Trends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Kreative Lösungsansätze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Branchen- &amp; Prozesswissen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Umgang mit Strukturen &amp; Hierarchien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172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Mentoring verbindet beide Perspektiven auf Augenhöhe – Lernen findet in beide Richtungen statt.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6AB2E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PLATTFORM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Vom Profil zum messbaren Ergebnis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99032" y="2423160"/>
            <a:ext cx="566928" cy="566928"/>
          </a:xfrm>
          <a:prstGeom prst="ellipse">
            <a:avLst/>
          </a:prstGeom>
          <a:solidFill>
            <a:srgbClr val="042C58"/>
          </a:solidFill>
          <a:ln/>
        </p:spPr>
      </p:sp>
      <p:sp>
        <p:nvSpPr>
          <p:cNvPr id="7" name="Text 5"/>
          <p:cNvSpPr/>
          <p:nvPr/>
        </p:nvSpPr>
        <p:spPr>
          <a:xfrm>
            <a:off x="1399032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" y="31546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 &amp; Login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379476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An- und Abmeldung als Mentee oder Mentor, Stärken und Lernwünsche erfassen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79192" y="3337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AB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52928" y="214884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0" y="2423160"/>
            <a:ext cx="566928" cy="566928"/>
          </a:xfrm>
          <a:prstGeom prst="ellipse">
            <a:avLst/>
          </a:prstGeom>
          <a:solidFill>
            <a:srgbClr val="1C6AA8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62656" y="31546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17520" y="379476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Algorithmus schlägt passende Tandems mit Match-Score vor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3337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AB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65776" y="214884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24728" y="2423160"/>
            <a:ext cx="566928" cy="566928"/>
          </a:xfrm>
          <a:prstGeom prst="ellipse">
            <a:avLst/>
          </a:prstGeom>
          <a:solidFill>
            <a:srgbClr val="042C58"/>
          </a:solidFill>
          <a:ln/>
        </p:spPr>
      </p:sp>
      <p:sp>
        <p:nvSpPr>
          <p:cNvPr id="19" name="Text 17"/>
          <p:cNvSpPr/>
          <p:nvPr/>
        </p:nvSpPr>
        <p:spPr>
          <a:xfrm>
            <a:off x="5824728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175504" y="31546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Treffen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30368" y="379476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Einzel- oder Regeltermine vereinbaren – wöchentlich bis monatlich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04888" y="3337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AB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278624" y="214884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37576" y="2423160"/>
            <a:ext cx="566928" cy="566928"/>
          </a:xfrm>
          <a:prstGeom prst="ellipse">
            <a:avLst/>
          </a:prstGeom>
          <a:solidFill>
            <a:srgbClr val="1C6AA8"/>
          </a:solidFill>
          <a:ln/>
        </p:spPr>
      </p:sp>
      <p:sp>
        <p:nvSpPr>
          <p:cNvPr id="25" name="Text 23"/>
          <p:cNvSpPr/>
          <p:nvPr/>
        </p:nvSpPr>
        <p:spPr>
          <a:xfrm>
            <a:off x="8037576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88352" y="31546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Austausch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43216" y="379476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Lernthemen gemeinsam bearbeiten, beide Seiten profitieren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17736" y="3337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AB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491472" y="214884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250424" y="2423160"/>
            <a:ext cx="566928" cy="566928"/>
          </a:xfrm>
          <a:prstGeom prst="ellipse">
            <a:avLst/>
          </a:prstGeom>
          <a:solidFill>
            <a:srgbClr val="042C58"/>
          </a:solidFill>
          <a:ln/>
        </p:spPr>
      </p:sp>
      <p:sp>
        <p:nvSpPr>
          <p:cNvPr id="31" name="Text 29"/>
          <p:cNvSpPr/>
          <p:nvPr/>
        </p:nvSpPr>
        <p:spPr>
          <a:xfrm>
            <a:off x="10250424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601200" y="31546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&amp; Tracking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56064" y="379476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Bewertungen auswerten, Ergebnisse und Fortschritt festhalten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571500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E7F2FB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60120" y="57150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&amp; DSGVO-konform:  </a:t>
            </a:r>
            <a:pPr indent="0" marL="0">
              <a:buNone/>
            </a:pPr>
            <a:r>
              <a:rPr lang="en-US" sz="135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Web-Plattform läuft im Browser, Daten bleiben im Unternehmen – kein zusätzliches Tool-Onboarding nötig.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6AB2E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Rollen &amp; Verantwortlichkeiten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708392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Rolle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Verantwortung im Programm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42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/ People &amp; Culture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Programm-Owner: Konzept, Kommunikation, Matching-Qualität, Auswertung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42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Führungskräfte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Ermöglichen Zeit, fördern Teilnahme, wirken als Vorbilder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42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Mentor:innen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Geben digitales Wissen weiter, dokumentieren Lernthemen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42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Mentees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Bringen Lernwünsche ein, gestalten Treffen aktiv 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42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Betriebsrat / Datenschutz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Begleitung von Freiwilligkeit, Vertraulichkeit &amp; Datenschutz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1264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Erfolgsprinzip: Freiwilligkeit, Augenhöhe und Wertschätzung – HR schafft den Rahmen, die Tandems gestalten den Inhalt.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6AB2E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UMSETZUNG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Implementierungs-Roadmap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8503920" cy="0"/>
          </a:xfrm>
          <a:prstGeom prst="line">
            <a:avLst/>
          </a:prstGeom>
          <a:noFill/>
          <a:ln w="25400">
            <a:solidFill>
              <a:srgbClr val="6AB2E7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042C5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2670048" cy="320040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97180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336499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 1–2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37033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Konzept &amp; Setup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4114800"/>
            <a:ext cx="23042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 &amp; KPIs definieren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einbinden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Plattform aufsetzen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20440" y="2103120"/>
            <a:ext cx="457200" cy="457200"/>
          </a:xfrm>
          <a:prstGeom prst="ellipse">
            <a:avLst/>
          </a:prstGeom>
          <a:solidFill>
            <a:srgbClr val="1C6AA8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474720" y="2788920"/>
            <a:ext cx="2670048" cy="320040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75888" y="297180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75888" y="336499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 3–4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75888" y="37033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75888" y="4114800"/>
            <a:ext cx="23042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Tandems starten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Begleitung &amp; Onboarding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Treffen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2103120"/>
            <a:ext cx="457200" cy="457200"/>
          </a:xfrm>
          <a:prstGeom prst="ellipse">
            <a:avLst/>
          </a:prstGeom>
          <a:solidFill>
            <a:srgbClr val="042C58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09360" y="2788920"/>
            <a:ext cx="2670048" cy="320040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0528" y="297180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10528" y="336499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 5–7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10528" y="37033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0528" y="4114800"/>
            <a:ext cx="23042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auswerten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nachschärfen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Erfolge sichtbar machen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89720" y="2103120"/>
            <a:ext cx="457200" cy="457200"/>
          </a:xfrm>
          <a:prstGeom prst="ellipse">
            <a:avLst/>
          </a:prstGeom>
          <a:solidFill>
            <a:srgbClr val="1C6AA8"/>
          </a:solidFill>
          <a:ln/>
        </p:spPr>
      </p:sp>
      <p:sp>
        <p:nvSpPr>
          <p:cNvPr id="28" name="Text 26"/>
          <p:cNvSpPr/>
          <p:nvPr/>
        </p:nvSpPr>
        <p:spPr>
          <a:xfrm>
            <a:off x="91897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144000" y="2788920"/>
            <a:ext cx="2670048" cy="320040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345168" y="297180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345168" y="336499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Monat 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45168" y="37033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Roll-out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345168" y="4114800"/>
            <a:ext cx="23042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Unternehmensweit öffnen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HR-Prozesse verankern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Kontinuierlich verbessern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6AB2E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ERFOLGSMESSUNG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KPIs &amp; erwartete Wirkung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98932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2140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Digitale Selbstwirksamkeit der Mentees (Selbsteinschätzung)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2697480"/>
          <a:ext cx="56692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858000" y="1965960"/>
            <a:ext cx="4690872" cy="914400"/>
          </a:xfrm>
          <a:prstGeom prst="roundRect">
            <a:avLst>
              <a:gd name="adj" fmla="val 10000"/>
            </a:avLst>
          </a:prstGeom>
          <a:solidFill>
            <a:srgbClr val="E7F2FB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0" y="1965960"/>
            <a:ext cx="91440" cy="914400"/>
          </a:xfrm>
          <a:prstGeom prst="rect">
            <a:avLst/>
          </a:prstGeom>
          <a:solidFill>
            <a:srgbClr val="042C58"/>
          </a:solidFill>
          <a:ln/>
        </p:spPr>
      </p:sp>
      <p:sp>
        <p:nvSpPr>
          <p:cNvPr id="10" name="Text 7"/>
          <p:cNvSpPr/>
          <p:nvPr/>
        </p:nvSpPr>
        <p:spPr>
          <a:xfrm>
            <a:off x="7114032" y="20939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Teilnahmequote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14032" y="24414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 der Zielgruppe im 1. Jahr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858000" y="2999232"/>
            <a:ext cx="469087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58000" y="2999232"/>
            <a:ext cx="91440" cy="914400"/>
          </a:xfrm>
          <a:prstGeom prst="rect">
            <a:avLst/>
          </a:prstGeom>
          <a:solidFill>
            <a:srgbClr val="6AB2E7"/>
          </a:solidFill>
          <a:ln/>
        </p:spPr>
      </p:sp>
      <p:sp>
        <p:nvSpPr>
          <p:cNvPr id="14" name="Text 11"/>
          <p:cNvSpPr/>
          <p:nvPr/>
        </p:nvSpPr>
        <p:spPr>
          <a:xfrm>
            <a:off x="7114032" y="31272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Zufriedenheit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114032" y="3474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 Feedback ≥ 4,2 / 5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858000" y="4032504"/>
            <a:ext cx="4690872" cy="914400"/>
          </a:xfrm>
          <a:prstGeom prst="roundRect">
            <a:avLst>
              <a:gd name="adj" fmla="val 10000"/>
            </a:avLst>
          </a:prstGeom>
          <a:solidFill>
            <a:srgbClr val="E7F2FB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858000" y="4032504"/>
            <a:ext cx="91440" cy="914400"/>
          </a:xfrm>
          <a:prstGeom prst="rect">
            <a:avLst/>
          </a:prstGeom>
          <a:solidFill>
            <a:srgbClr val="042C58"/>
          </a:solidFill>
          <a:ln/>
        </p:spPr>
      </p:sp>
      <p:sp>
        <p:nvSpPr>
          <p:cNvPr id="18" name="Text 15"/>
          <p:cNvSpPr/>
          <p:nvPr/>
        </p:nvSpPr>
        <p:spPr>
          <a:xfrm>
            <a:off x="7114032" y="4160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Abgeschlossene Treffen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114032" y="45079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 der geplanten Termine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858000" y="5065776"/>
            <a:ext cx="469087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0" y="5065776"/>
            <a:ext cx="91440" cy="914400"/>
          </a:xfrm>
          <a:prstGeom prst="rect">
            <a:avLst/>
          </a:prstGeom>
          <a:solidFill>
            <a:srgbClr val="6AB2E7"/>
          </a:solidFill>
          <a:ln/>
        </p:spPr>
      </p:sp>
      <p:sp>
        <p:nvSpPr>
          <p:cNvPr id="22" name="Text 19"/>
          <p:cNvSpPr/>
          <p:nvPr/>
        </p:nvSpPr>
        <p:spPr>
          <a:xfrm>
            <a:off x="7114032" y="5193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Retention Ü50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114032" y="55412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messbare Wirkung auf Bindung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6AB2E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Nutzen auf drei Ebenen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84448" cy="365760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3584448" cy="777240"/>
          </a:xfrm>
          <a:prstGeom prst="rect">
            <a:avLst/>
          </a:prstGeom>
          <a:solidFill>
            <a:srgbClr val="042C5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Mitarbeitende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digitale Sicherheit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Wertschätzung &amp; Sichtbarkeit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Netzwerke über Abteilungen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584448" cy="365760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2011680"/>
            <a:ext cx="3584448" cy="777240"/>
          </a:xfrm>
          <a:prstGeom prst="rect">
            <a:avLst/>
          </a:prstGeom>
          <a:solidFill>
            <a:srgbClr val="1C6AA8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011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Unternehmen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63440" y="306324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Wissenstransfer gesichert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Schnellere Tool-Adoption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Stärkere Mitarbeiterbindung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2011680"/>
            <a:ext cx="3584448" cy="365760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2011680"/>
            <a:ext cx="3584448" cy="777240"/>
          </a:xfrm>
          <a:prstGeom prst="rect">
            <a:avLst/>
          </a:prstGeom>
          <a:solidFill>
            <a:srgbClr val="042C58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2011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Kultur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412480" y="306324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Generationen auf Augenhöhe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Gelebte Lernkultur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Attraktives Employer Branding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Geringe Investition, breite Wirkung: Relational Mentoring nutzt vorhandene interne Kompetenzen statt teurer externer Schulungen.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6AB2E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VORAUSSETZUNGEN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Erfolgsfaktoren &amp; Risiken im Blick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2C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Erfolgsfaktoren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Klares Commitment der Führung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Freiwilligkeit &amp; echte Augenhöhe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Gutes Onboarding der Tandems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Sichtbare Erfolge früh kommunizieren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Verankerung in HR-Prozessen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55080" y="1965960"/>
            <a:ext cx="5193792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6A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Risiken &amp; Gegenmaßnahmen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675120" y="2788920"/>
            <a:ext cx="146304" cy="146304"/>
          </a:xfrm>
          <a:prstGeom prst="ellipse">
            <a:avLst/>
          </a:prstGeom>
          <a:solidFill>
            <a:srgbClr val="6AB2E7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26974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4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Geringe Teilnahme —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Niedrigschwellig starten, Vorbilder zeigen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675120" y="3538728"/>
            <a:ext cx="146304" cy="146304"/>
          </a:xfrm>
          <a:prstGeom prst="ellipse">
            <a:avLst/>
          </a:prstGeom>
          <a:solidFill>
            <a:srgbClr val="6AB2E7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344728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4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 im Arbeitsalltag —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Feste Regeltermine, Rückhalt der Führung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675120" y="4288536"/>
            <a:ext cx="146304" cy="146304"/>
          </a:xfrm>
          <a:prstGeom prst="ellipse">
            <a:avLst/>
          </a:prstGeom>
          <a:solidFill>
            <a:srgbClr val="6AB2E7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419709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4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Datenschutz-Bedenken —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Transparenz, BR früh einbinden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675120" y="5038344"/>
            <a:ext cx="146304" cy="146304"/>
          </a:xfrm>
          <a:prstGeom prst="ellipse">
            <a:avLst/>
          </a:prstGeom>
          <a:solidFill>
            <a:srgbClr val="6AB2E7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494690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42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Verlust an Momentum —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Feedback-Auswertung &amp; sichtbare Ergebnisse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2C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937760" cy="4937760"/>
          </a:xfrm>
          <a:prstGeom prst="ellipse">
            <a:avLst/>
          </a:prstGeom>
          <a:solidFill>
            <a:srgbClr val="063E78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463040"/>
            <a:ext cx="3840480" cy="3840480"/>
          </a:xfrm>
          <a:prstGeom prst="ellipse">
            <a:avLst/>
          </a:prstGeom>
          <a:solidFill>
            <a:srgbClr val="1C6AA8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Nächste Schritte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AB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eine Arbeitswelt, in der Erfahrung und digitale Kompetenz sich gegenseitig stärken.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063E78"/>
          </a:solidFill>
          <a:ln w="12700">
            <a:solidFill>
              <a:srgbClr val="1C6A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017520"/>
            <a:ext cx="566928" cy="566928"/>
          </a:xfrm>
          <a:prstGeom prst="ellipse">
            <a:avLst/>
          </a:prstGeom>
          <a:solidFill>
            <a:srgbClr val="6AB2E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Entscheidung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Freigabe für einen 4-Monats-Pilot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274320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063E78"/>
          </a:solidFill>
          <a:ln w="12700">
            <a:solidFill>
              <a:srgbClr val="1C6A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3017520"/>
            <a:ext cx="566928" cy="566928"/>
          </a:xfrm>
          <a:prstGeom prst="ellipse">
            <a:avLst/>
          </a:prstGeom>
          <a:solidFill>
            <a:srgbClr val="6AB2E7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4114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Ziele, KPIs &amp; Pilotbereich festlegen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274320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063E78"/>
          </a:solidFill>
          <a:ln w="12700">
            <a:solidFill>
              <a:srgbClr val="1C6A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3017520"/>
            <a:ext cx="566928" cy="566928"/>
          </a:xfrm>
          <a:prstGeom prst="ellipse">
            <a:avLst/>
          </a:prstGeom>
          <a:solidFill>
            <a:srgbClr val="6AB2E7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2104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21040" y="4114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10–15 Tandems matchen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669280"/>
            <a:ext cx="64008" cy="640080"/>
          </a:xfrm>
          <a:prstGeom prst="rect">
            <a:avLst/>
          </a:prstGeom>
          <a:solidFill>
            <a:srgbClr val="6AB2E7"/>
          </a:solidFill>
          <a:ln/>
        </p:spPr>
      </p:sp>
      <p:sp>
        <p:nvSpPr>
          <p:cNvPr id="22" name="Text 20"/>
          <p:cNvSpPr/>
          <p:nvPr/>
        </p:nvSpPr>
        <p:spPr>
          <a:xfrm>
            <a:off x="886968" y="56235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DigitalTogether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E7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Miteinander. Füreinander. Wissen verbindet.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Mentoring als Teil der HR-Strategie</dc:title>
  <dc:subject>PptxGenJS Presentation</dc:subject>
  <dc:creator>DigitalTogether</dc:creator>
  <cp:lastModifiedBy>DigitalTogether</cp:lastModifiedBy>
  <cp:revision>1</cp:revision>
  <dcterms:created xsi:type="dcterms:W3CDTF">2026-06-29T12:48:55Z</dcterms:created>
  <dcterms:modified xsi:type="dcterms:W3CDTF">2026-06-29T12:48:55Z</dcterms:modified>
</cp:coreProperties>
</file>